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981047" y="1783080"/>
            <a:ext cx="82296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81047" y="23317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5822D"/>
                </a:solidFill>
                <a:latin typeface="Poppins"/>
              </a:rPr>
              <a:t>MORPH BY TNX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047" y="283464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1A1A2E"/>
                </a:solidFill>
                <a:latin typeface="Poppins"/>
              </a:rPr>
              <a:t>Ops Control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047" y="3749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Poppins"/>
              </a:rPr>
              <a:t>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047" y="429768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Poppins"/>
              </a:rPr>
              <a:t>Version 1.0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0" b="1">
                <a:solidFill>
                  <a:srgbClr val="FFF0E6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Poppins"/>
              </a:rPr>
              <a:t>Getting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747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Poppins"/>
              </a:rPr>
              <a:t>Install the app and sign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12027103" cy="10058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oppins"/>
              </a:rPr>
              <a:t>Install &amp; First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1">
                <a:solidFill>
                  <a:srgbClr val="E5822D"/>
                </a:solidFill>
                <a:latin typeface="Poppins"/>
              </a:rPr>
              <a:t>Install (PWA)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iPhone (Safari): Share → Add to Home Screen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Android (Chrome): menu → Add to Home screen / Install app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Allow notifications when prompted — that's how reminders reach you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E5822D"/>
                </a:solidFill>
                <a:latin typeface="Poppins"/>
              </a:rPr>
              <a:t>First sign-in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Open your login link, sign in with the temporary password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Set a new password once (complete-setup)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You land on the Dashboard; your menu shows only what your role allows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69280"/>
            <a:ext cx="10515600" cy="7772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00" b="1">
                <a:solidFill>
                  <a:srgbClr val="E5822D"/>
                </a:solidFill>
                <a:latin typeface="Poppins"/>
              </a:rPr>
              <a:t>Tip:  The app is the source of truth — if it isn't in the app, it didn't happen.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0" b="1">
                <a:solidFill>
                  <a:srgbClr val="FFF0E6"/>
                </a:solidFill>
                <a:latin typeface="Poppi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Poppins"/>
              </a:rPr>
              <a:t>Roles &amp;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747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Poppins"/>
              </a:rPr>
              <a:t>Three roles decide what you see and edit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Poppins"/>
              </a:rPr>
              <a:t>Roles &amp;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867" y="173736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867" y="1737360"/>
            <a:ext cx="3520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867" y="1737360"/>
            <a:ext cx="3520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265176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Poppins"/>
              </a:rPr>
              <a:t>CAN</a:t>
            </a:r>
          </a:p>
          <a:p>
            <a:r>
              <a:rPr sz="1250" b="0">
                <a:solidFill>
                  <a:srgbClr val="1A1A2E"/>
                </a:solidFill>
                <a:latin typeface="Poppins"/>
              </a:rPr>
              <a:t>• Everything</a:t>
            </a:r>
          </a:p>
          <a:p>
            <a:r>
              <a:rPr sz="1250" b="0">
                <a:solidFill>
                  <a:srgbClr val="1A1A2E"/>
                </a:solidFill>
                <a:latin typeface="Poppins"/>
              </a:rPr>
              <a:t>• Settings &amp; users</a:t>
            </a:r>
          </a:p>
          <a:p>
            <a:r>
              <a:rPr sz="1250" b="0">
                <a:solidFill>
                  <a:srgbClr val="1A1A2E"/>
                </a:solidFill>
                <a:latin typeface="Poppins"/>
              </a:rPr>
              <a:t>• Cohorts, reviews, reminders</a:t>
            </a:r>
          </a:p>
          <a:p>
            <a:r>
              <a:rPr sz="1250" b="0">
                <a:solidFill>
                  <a:srgbClr val="1A1A2E"/>
                </a:solidFill>
                <a:latin typeface="Poppins"/>
              </a:rPr>
              <a:t>• Import &amp; export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6B7280"/>
                </a:solidFill>
                <a:latin typeface="Poppins"/>
              </a:rPr>
              <a:t>CANNOT</a:t>
            </a:r>
          </a:p>
          <a:p>
            <a:r>
              <a:rPr sz="1250" b="0">
                <a:solidFill>
                  <a:srgbClr val="6B7280"/>
                </a:solidFill>
                <a:latin typeface="Poppins"/>
              </a:rPr>
              <a:t>• 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5627" y="173736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5627" y="1737360"/>
            <a:ext cx="3520440" cy="777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5627" y="1737360"/>
            <a:ext cx="3520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Facilitator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4227" y="265176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Poppins"/>
              </a:rPr>
              <a:t>CAN</a:t>
            </a:r>
          </a:p>
          <a:p>
            <a:r>
              <a:rPr sz="1250" b="0">
                <a:solidFill>
                  <a:srgbClr val="1A1A2E"/>
                </a:solidFill>
                <a:latin typeface="Poppins"/>
              </a:rPr>
              <a:t>• View all data</a:t>
            </a:r>
          </a:p>
          <a:p>
            <a:r>
              <a:rPr sz="1250" b="0">
                <a:solidFill>
                  <a:srgbClr val="1A1A2E"/>
                </a:solidFill>
                <a:latin typeface="Poppins"/>
              </a:rPr>
              <a:t>• Action reviews</a:t>
            </a:r>
          </a:p>
          <a:p>
            <a:r>
              <a:rPr sz="1250" b="0">
                <a:solidFill>
                  <a:srgbClr val="1A1A2E"/>
                </a:solidFill>
                <a:latin typeface="Poppins"/>
              </a:rPr>
              <a:t>• Action sessions</a:t>
            </a:r>
          </a:p>
          <a:p>
            <a:r>
              <a:rPr sz="1250" b="0">
                <a:solidFill>
                  <a:srgbClr val="1A1A2E"/>
                </a:solidFill>
                <a:latin typeface="Poppins"/>
              </a:rPr>
              <a:t>• Dashboards &amp; alerts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6B7280"/>
                </a:solidFill>
                <a:latin typeface="Poppins"/>
              </a:rPr>
              <a:t>CANNOT</a:t>
            </a:r>
          </a:p>
          <a:p>
            <a:r>
              <a:rPr sz="1250" b="0">
                <a:solidFill>
                  <a:srgbClr val="6B7280"/>
                </a:solidFill>
                <a:latin typeface="Poppins"/>
              </a:rPr>
              <a:t>• Manage users</a:t>
            </a:r>
          </a:p>
          <a:p>
            <a:r>
              <a:rPr sz="1250" b="0">
                <a:solidFill>
                  <a:srgbClr val="6B7280"/>
                </a:solidFill>
                <a:latin typeface="Poppins"/>
              </a:rPr>
              <a:t>• Change settings</a:t>
            </a:r>
          </a:p>
          <a:p>
            <a:r>
              <a:rPr sz="1250" b="0">
                <a:solidFill>
                  <a:srgbClr val="6B7280"/>
                </a:solidFill>
                <a:latin typeface="Poppins"/>
              </a:rPr>
              <a:t>• Import / export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0387" y="173736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0387" y="1737360"/>
            <a:ext cx="3520440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0387" y="1737360"/>
            <a:ext cx="3520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Community Mgr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8987" y="265176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Poppins"/>
              </a:rPr>
              <a:t>CAN</a:t>
            </a:r>
          </a:p>
          <a:p>
            <a:r>
              <a:rPr sz="1250" b="0">
                <a:solidFill>
                  <a:srgbClr val="1A1A2E"/>
                </a:solidFill>
                <a:latin typeface="Poppins"/>
              </a:rPr>
              <a:t>• See every page</a:t>
            </a:r>
          </a:p>
          <a:p>
            <a:r>
              <a:rPr sz="1250" b="0">
                <a:solidFill>
                  <a:srgbClr val="1A1A2E"/>
                </a:solidFill>
                <a:latin typeface="Poppins"/>
              </a:rPr>
              <a:t>• Edit Participants</a:t>
            </a:r>
          </a:p>
          <a:p>
            <a:r>
              <a:rPr sz="1250" b="0">
                <a:solidFill>
                  <a:srgbClr val="1A1A2E"/>
                </a:solidFill>
                <a:latin typeface="Poppins"/>
              </a:rPr>
              <a:t>• Edit Community</a:t>
            </a:r>
          </a:p>
          <a:p>
            <a:r>
              <a:rPr sz="1250" b="0">
                <a:solidFill>
                  <a:srgbClr val="1A1A2E"/>
                </a:solidFill>
                <a:latin typeface="Poppins"/>
              </a:rPr>
              <a:t>• Work tasks, flag risk</a:t>
            </a:r>
          </a:p>
          <a:p>
            <a:r>
              <a:rPr sz="1250" b="0">
                <a:solidFill>
                  <a:srgbClr val="1A1A2E"/>
                </a:solidFill>
                <a:latin typeface="Poppins"/>
              </a:rPr>
              <a:t>• Raise escalations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6B7280"/>
                </a:solidFill>
                <a:latin typeface="Poppins"/>
              </a:rPr>
              <a:t>CANNOT</a:t>
            </a:r>
          </a:p>
          <a:p>
            <a:r>
              <a:rPr sz="1250" b="0">
                <a:solidFill>
                  <a:srgbClr val="6B7280"/>
                </a:solidFill>
                <a:latin typeface="Poppins"/>
              </a:rPr>
              <a:t>• Edit other modules</a:t>
            </a:r>
          </a:p>
          <a:p>
            <a:r>
              <a:rPr sz="1250" b="0">
                <a:solidFill>
                  <a:srgbClr val="6B7280"/>
                </a:solidFill>
                <a:latin typeface="Poppins"/>
              </a:rPr>
              <a:t>• Manage users/settings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Poppins"/>
              </a:rPr>
              <a:t>Permissions at a glance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4592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oppins"/>
                        </a:rPr>
                        <a:t>Capability</a:t>
                      </a:r>
                    </a:p>
                  </a:txBody>
                  <a:tcPr>
                    <a:solidFill>
                      <a:srgbClr val="FF91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oppins"/>
                        </a:rPr>
                        <a:t>Admin</a:t>
                      </a:r>
                    </a:p>
                  </a:txBody>
                  <a:tcPr>
                    <a:solidFill>
                      <a:srgbClr val="FF91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oppins"/>
                        </a:rPr>
                        <a:t>Facilitator</a:t>
                      </a:r>
                    </a:p>
                  </a:txBody>
                  <a:tcPr>
                    <a:solidFill>
                      <a:srgbClr val="FF91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oppins"/>
                        </a:rPr>
                        <a:t>CM</a:t>
                      </a:r>
                    </a:p>
                  </a:txBody>
                  <a:tcPr>
                    <a:solidFill>
                      <a:srgbClr val="FF91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2E"/>
                          </a:solidFill>
                          <a:latin typeface="Poppins"/>
                        </a:rPr>
                        <a:t>View all pages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2E"/>
                          </a:solidFill>
                          <a:latin typeface="Poppins"/>
                        </a:rPr>
                        <a:t>Edit Participants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B0C0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2E"/>
                          </a:solidFill>
                          <a:latin typeface="Poppins"/>
                        </a:rPr>
                        <a:t>Edit Community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B0C0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2E"/>
                          </a:solidFill>
                          <a:latin typeface="Poppins"/>
                        </a:rPr>
                        <a:t>Action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B0C0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2E"/>
                          </a:solidFill>
                          <a:latin typeface="Poppins"/>
                        </a:rPr>
                        <a:t>Settings &amp; Users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B0C0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B0C0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2E"/>
                          </a:solidFill>
                          <a:latin typeface="Poppins"/>
                        </a:rPr>
                        <a:t>Import /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B0C0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B0C0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0" b="1">
                <a:solidFill>
                  <a:srgbClr val="FFF0E6"/>
                </a:solidFill>
                <a:latin typeface="Poppi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Poppins"/>
              </a:rPr>
              <a:t>Participants &amp;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747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Poppins"/>
              </a:rPr>
              <a:t>The roster — and how to flag risk early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12027103" cy="10058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oppins"/>
              </a:rPr>
              <a:t>Working the Participants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Open Participants and click a student's row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Update attendance &amp; submission the SAME day it happens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Add a Next action so the next person knows the plan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E5822D"/>
                </a:solidFill>
                <a:latin typeface="Poppins"/>
              </a:rPr>
              <a:t>Flagging risk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Set Risk = Red (or Amber) early, not at week's 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69280"/>
            <a:ext cx="10515600" cy="7772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00" b="1">
                <a:solidFill>
                  <a:srgbClr val="E5822D"/>
                </a:solidFill>
                <a:latin typeface="Poppins"/>
              </a:rPr>
              <a:t>Tip:  Risk = Red auto-creates an outreach task on the owning CM — flagging is how you trigger help.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0" b="1">
                <a:solidFill>
                  <a:srgbClr val="FFF0E6"/>
                </a:solidFill>
                <a:latin typeface="Poppi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Poppins"/>
              </a:rPr>
              <a:t>Reviews, Sessions &amp;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747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Poppins"/>
              </a:rPr>
              <a:t>The weekly operating rhythm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12027103" cy="10058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oppins"/>
              </a:rPr>
              <a:t>Assignment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Submissions are grouped per week in the Reviews queue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Open a review card — submission details show inline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Log feedback against the correct week</a:t>
            </a:r>
          </a:p>
          <a:p>
            <a:pPr lvl="1"/>
            <a:r>
              <a:rPr sz="1500" b="0">
                <a:solidFill>
                  <a:srgbClr val="6B7280"/>
                </a:solidFill>
                <a:latin typeface="Poppins"/>
              </a:rPr>
              <a:t>·  Toggle a week open/closed as needed</a:t>
            </a:r>
          </a:p>
          <a:p>
            <a:pPr lvl="1"/>
            <a:r>
              <a:rPr sz="1500" b="0">
                <a:solidFill>
                  <a:srgbClr val="6B7280"/>
                </a:solidFill>
                <a:latin typeface="Poppins"/>
              </a:rPr>
              <a:t>·  Admins can copy a submission link from Reviews settings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12027103" cy="10058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oppins"/>
              </a:rPr>
              <a:t>Sessions &amp; Attendance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Each session has an editable readiness checklist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Share the public attendance link (/attendance/…)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Participants sign in &amp; out with no account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Attendance flows back into the session record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12027103" cy="10058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oppins"/>
              </a:rPr>
              <a:t>Community (CM Tracker)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File your weekly row at end of week (Friday)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E5822D"/>
                </a:solidFill>
                <a:latin typeface="Poppins"/>
              </a:rPr>
              <a:t>Capture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Prompts posted, attendance/submissions updated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Silent count, stuck count, escalations raised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Energy level, key concerns, next actions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Set Status = Done and Weekly report sent = yes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0" b="1">
                <a:solidFill>
                  <a:srgbClr val="FFF0E6"/>
                </a:solidFill>
                <a:latin typeface="Poppi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Poppins"/>
              </a:rPr>
              <a:t>Tasks &amp; Escalations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747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Poppins"/>
              </a:rPr>
              <a:t>Accountability and safeguarding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12027103" cy="10058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oppins"/>
              </a:rPr>
              <a:t>Your Tasks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Tasks are owned by role labels (e.g. 'CM Owner')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Change status inline; completed tasks hide by default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Comment what's blocked — @mentions render as chips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Recurring duties arrive automatically and nudge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69280"/>
            <a:ext cx="10515600" cy="7772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00" b="1">
                <a:solidFill>
                  <a:srgbClr val="E5822D"/>
                </a:solidFill>
                <a:latin typeface="Poppins"/>
              </a:rPr>
              <a:t>Tip:  Don't let an overdue task sit silently — comment the blocker.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12027103" cy="10058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oppins"/>
              </a:rPr>
              <a:t>Safeguarding Escalations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Anything you can't resolve goes through escalations — not DMs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Bump 'Escalations raised' on your weekly Community row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Write the detail in 'Key concerns'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It surfaces on the Dashboard for the core team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0" b="1">
                <a:solidFill>
                  <a:srgbClr val="FFF0E6"/>
                </a:solidFill>
                <a:latin typeface="Poppin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Poppins"/>
              </a:rPr>
              <a:t>Notifications &amp;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747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Poppins"/>
              </a:rPr>
              <a:t>Reminders, import and backups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12027103" cy="10058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oppins"/>
              </a:rPr>
              <a:t>Notifications &amp; Reminders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Allow web push when installing the PWA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Daily reminder at 08:00 for your role's due/overdue tasks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The Alerts page collects in-app notifications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12027103" cy="10058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oppins"/>
              </a:rPr>
              <a:t>Admin: Import &amp;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1">
                <a:solidFill>
                  <a:srgbClr val="E5822D"/>
                </a:solidFill>
                <a:latin typeface="Poppins"/>
              </a:rPr>
              <a:t>Import (one-time)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Go to /admin/import, type IMPORT_MORPH_OPS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Upload the workbook, map columns — records land in the right modules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E5822D"/>
                </a:solidFill>
                <a:latin typeface="Poppins"/>
              </a:rPr>
              <a:t>Backups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Poppins"/>
              </a:rPr>
              <a:t>•  Export JSON from /admin/export regularly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69280"/>
            <a:ext cx="10515600" cy="7772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00" b="1">
                <a:solidFill>
                  <a:srgbClr val="E5822D"/>
                </a:solidFill>
                <a:latin typeface="Poppins"/>
              </a:rPr>
              <a:t>Tip:  First Supabase user signs in as admin when none exists (claim_first_admin()).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0" b="1">
                <a:solidFill>
                  <a:srgbClr val="FFF0E6"/>
                </a:solidFill>
                <a:latin typeface="Poppin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Poppins"/>
              </a:rPr>
              <a:t>FAQ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747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Poppins"/>
              </a:rPr>
              <a:t>Common questions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12027103" cy="1005840"/>
          </a:xfrm>
          <a:prstGeom prst="rect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oppins"/>
              </a:rPr>
              <a:t>Frequently Asked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1">
                <a:solidFill>
                  <a:srgbClr val="E5822D"/>
                </a:solidFill>
                <a:latin typeface="Poppins"/>
              </a:rPr>
              <a:t>Don't see a page?</a:t>
            </a:r>
          </a:p>
          <a:p>
            <a:pPr lvl="1"/>
            <a:r>
              <a:rPr sz="1500" b="0">
                <a:solidFill>
                  <a:srgbClr val="6B7280"/>
                </a:solidFill>
                <a:latin typeface="Poppins"/>
              </a:rPr>
              <a:t>·  Pages are role-gated; ask an admin if you need access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E5822D"/>
                </a:solidFill>
                <a:latin typeface="Poppins"/>
              </a:rPr>
              <a:t>Flagged Red but no task?</a:t>
            </a:r>
          </a:p>
          <a:p>
            <a:pPr lvl="1"/>
            <a:r>
              <a:rPr sz="1500" b="0">
                <a:solidFill>
                  <a:srgbClr val="6B7280"/>
                </a:solidFill>
                <a:latin typeface="Poppins"/>
              </a:rPr>
              <a:t>·  It auto-creates one on the owning CM — check their Tasks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E5822D"/>
                </a:solidFill>
                <a:latin typeface="Poppins"/>
              </a:rPr>
              <a:t>Submission in the wrong week?</a:t>
            </a:r>
          </a:p>
          <a:p>
            <a:pPr lvl="1"/>
            <a:r>
              <a:rPr sz="1500" b="0">
                <a:solidFill>
                  <a:srgbClr val="6B7280"/>
                </a:solidFill>
                <a:latin typeface="Poppins"/>
              </a:rPr>
              <a:t>·  It lands in the bucket of the submit link used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E5822D"/>
                </a:solidFill>
                <a:latin typeface="Poppins"/>
              </a:rPr>
              <a:t>No reminders?</a:t>
            </a:r>
          </a:p>
          <a:p>
            <a:pPr lvl="1"/>
            <a:r>
              <a:rPr sz="1500" b="0">
                <a:solidFill>
                  <a:srgbClr val="6B7280"/>
                </a:solidFill>
                <a:latin typeface="Poppins"/>
              </a:rPr>
              <a:t>·  Install the PWA and allow notifications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E5822D"/>
                </a:solidFill>
                <a:latin typeface="Poppins"/>
              </a:rPr>
              <a:t>Do participants log in?</a:t>
            </a:r>
          </a:p>
          <a:p>
            <a:pPr lvl="1"/>
            <a:r>
              <a:rPr sz="1500" b="0">
                <a:solidFill>
                  <a:srgbClr val="6B7280"/>
                </a:solidFill>
                <a:latin typeface="Poppins"/>
              </a:rPr>
              <a:t>·  No — public submit &amp; attendance links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